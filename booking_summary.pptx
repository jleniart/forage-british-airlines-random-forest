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Leniart" userId="4ce8d44f83d55505" providerId="LiveId" clId="{5FA65C27-04FC-4414-AD2B-372C3519F125}"/>
    <pc:docChg chg="undo custSel modSld">
      <pc:chgData name="John Leniart" userId="4ce8d44f83d55505" providerId="LiveId" clId="{5FA65C27-04FC-4414-AD2B-372C3519F125}" dt="2026-09-30T15:54:17.318" v="668" actId="20577"/>
      <pc:docMkLst>
        <pc:docMk/>
      </pc:docMkLst>
      <pc:sldChg chg="addSp delSp modSp mod">
        <pc:chgData name="John Leniart" userId="4ce8d44f83d55505" providerId="LiveId" clId="{5FA65C27-04FC-4414-AD2B-372C3519F125}" dt="2026-09-30T15:54:17.318" v="668" actId="20577"/>
        <pc:sldMkLst>
          <pc:docMk/>
          <pc:sldMk cId="0" sldId="256"/>
        </pc:sldMkLst>
        <pc:spChg chg="mod">
          <ac:chgData name="John Leniart" userId="4ce8d44f83d55505" providerId="LiveId" clId="{5FA65C27-04FC-4414-AD2B-372C3519F125}" dt="2026-09-30T14:53:52.854" v="1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ohn Leniart" userId="4ce8d44f83d55505" providerId="LiveId" clId="{5FA65C27-04FC-4414-AD2B-372C3519F125}" dt="2026-09-30T15:54:17.318" v="668" actId="20577"/>
          <ac:spMkLst>
            <pc:docMk/>
            <pc:sldMk cId="0" sldId="256"/>
            <ac:spMk id="4" creationId="{00000000-0000-0000-0000-000000000000}"/>
          </ac:spMkLst>
        </pc:spChg>
        <pc:picChg chg="del">
          <ac:chgData name="John Leniart" userId="4ce8d44f83d55505" providerId="LiveId" clId="{5FA65C27-04FC-4414-AD2B-372C3519F125}" dt="2026-09-30T14:53:34.501" v="0" actId="478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John Leniart" userId="4ce8d44f83d55505" providerId="LiveId" clId="{5FA65C27-04FC-4414-AD2B-372C3519F125}" dt="2026-09-30T15:47:11.397" v="442" actId="1076"/>
          <ac:picMkLst>
            <pc:docMk/>
            <pc:sldMk cId="0" sldId="256"/>
            <ac:picMk id="6" creationId="{81E422B5-A44C-013E-2944-DB84E7369A0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1" dirty="0">
                <a:solidFill>
                  <a:srgbClr val="1F2A37"/>
                </a:solidFill>
              </a:rPr>
              <a:t>Bookings </a:t>
            </a:r>
            <a:r>
              <a:rPr lang="en-US" sz="2400" b="1" dirty="0">
                <a:solidFill>
                  <a:srgbClr val="1F2A37"/>
                </a:solidFill>
              </a:rPr>
              <a:t>H</a:t>
            </a:r>
            <a:r>
              <a:rPr sz="2400" b="1" dirty="0">
                <a:solidFill>
                  <a:srgbClr val="1F2A37"/>
                </a:solidFill>
              </a:rPr>
              <a:t>inge on </a:t>
            </a:r>
            <a:r>
              <a:rPr lang="en-US" sz="2400" b="1" dirty="0">
                <a:solidFill>
                  <a:srgbClr val="1F2A37"/>
                </a:solidFill>
              </a:rPr>
              <a:t>O</a:t>
            </a:r>
            <a:r>
              <a:rPr sz="2400" b="1" dirty="0">
                <a:solidFill>
                  <a:srgbClr val="1F2A37"/>
                </a:solidFill>
              </a:rPr>
              <a:t>rigin </a:t>
            </a:r>
            <a:r>
              <a:rPr lang="en-US" sz="2400" b="1" dirty="0">
                <a:solidFill>
                  <a:srgbClr val="1F2A37"/>
                </a:solidFill>
              </a:rPr>
              <a:t>M</a:t>
            </a:r>
            <a:r>
              <a:rPr sz="2400" b="1" dirty="0">
                <a:solidFill>
                  <a:srgbClr val="1F2A37"/>
                </a:solidFill>
              </a:rPr>
              <a:t>arket, </a:t>
            </a:r>
            <a:r>
              <a:rPr lang="en-US" sz="2400" b="1" dirty="0">
                <a:solidFill>
                  <a:srgbClr val="1F2A37"/>
                </a:solidFill>
              </a:rPr>
              <a:t>T</a:t>
            </a:r>
            <a:r>
              <a:rPr sz="2400" b="1" dirty="0">
                <a:solidFill>
                  <a:srgbClr val="1F2A37"/>
                </a:solidFill>
              </a:rPr>
              <a:t>rip </a:t>
            </a:r>
            <a:r>
              <a:rPr lang="en-US" sz="2400" b="1" dirty="0">
                <a:solidFill>
                  <a:srgbClr val="1F2A37"/>
                </a:solidFill>
              </a:rPr>
              <a:t>T</a:t>
            </a:r>
            <a:r>
              <a:rPr sz="2400" b="1" dirty="0">
                <a:solidFill>
                  <a:srgbClr val="1F2A37"/>
                </a:solidFill>
              </a:rPr>
              <a:t>ype and </a:t>
            </a:r>
            <a:r>
              <a:rPr lang="en-US" sz="2400" b="1" dirty="0">
                <a:solidFill>
                  <a:srgbClr val="1F2A37"/>
                </a:solidFill>
              </a:rPr>
              <a:t>A</a:t>
            </a:r>
            <a:r>
              <a:rPr sz="2400" b="1" dirty="0">
                <a:solidFill>
                  <a:srgbClr val="1F2A37"/>
                </a:solidFill>
              </a:rPr>
              <a:t>dd-</a:t>
            </a:r>
            <a:r>
              <a:rPr lang="en-US" sz="2400" b="1" dirty="0">
                <a:solidFill>
                  <a:srgbClr val="1F2A37"/>
                </a:solidFill>
              </a:rPr>
              <a:t>O</a:t>
            </a:r>
            <a:r>
              <a:rPr sz="2400" b="1" dirty="0">
                <a:solidFill>
                  <a:srgbClr val="1F2A37"/>
                </a:solidFill>
              </a:rPr>
              <a:t>n </a:t>
            </a:r>
            <a:r>
              <a:rPr lang="en-US" sz="2400" b="1" dirty="0">
                <a:solidFill>
                  <a:srgbClr val="1F2A37"/>
                </a:solidFill>
              </a:rPr>
              <a:t>I</a:t>
            </a:r>
            <a:r>
              <a:rPr sz="2400" b="1" dirty="0">
                <a:solidFill>
                  <a:srgbClr val="1F2A37"/>
                </a:solidFill>
              </a:rPr>
              <a:t>nterest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38363" y="1003323"/>
            <a:ext cx="475739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1F4E79"/>
                </a:solidFill>
              </a:rPr>
              <a:t>Random Forest </a:t>
            </a:r>
            <a:r>
              <a:rPr sz="1200" b="1" dirty="0">
                <a:solidFill>
                  <a:srgbClr val="1F4E79"/>
                </a:solidFill>
              </a:rPr>
              <a:t>Model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Accuracy: 85% ,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ROC-AUC 0.7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8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, PR-AUC 0.3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7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Useful for ranking, not precise per-customer prediction</a:t>
            </a:r>
          </a:p>
          <a:p>
            <a:pPr>
              <a:spcAft>
                <a:spcPts val="600"/>
              </a:spcAft>
            </a:pPr>
            <a:r>
              <a:rPr lang="en-US" sz="1200" b="1" dirty="0">
                <a:solidFill>
                  <a:srgbClr val="1F4E79"/>
                </a:solidFill>
              </a:rPr>
              <a:t>Key Findings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Overall conversion is only 15%</a:t>
            </a:r>
            <a:endParaRPr lang="en-US" sz="1200" b="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Round trips convert at 15%</a:t>
            </a:r>
            <a:endParaRPr lang="en-US" sz="1200" b="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One-way and circle trips convert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about 5%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Booking o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rigin matters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Malaysia 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34%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) had the highest conversion rate and had the highest feature importance in the model</a:t>
            </a:r>
            <a:endParaRPr lang="en-US" sz="120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Indonesia 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26%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and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Thailand 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(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23%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) also had high conversion</a:t>
            </a:r>
          </a:p>
          <a:p>
            <a:pPr marL="1085850" lvl="2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Compared 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</a:rPr>
              <a:t>to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Australia and New Zealand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 (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5%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sz="1200" b="0" dirty="0">
              <a:solidFill>
                <a:schemeClr val="tx2">
                  <a:lumMod val="7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Customers who select extras convert more</a:t>
            </a:r>
            <a:endParaRPr lang="en-US" sz="1200" b="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Customer who select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3 extras 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convert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19%</a:t>
            </a:r>
            <a:endParaRPr lang="en-US" sz="1200" b="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Customers who select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none 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convert </a:t>
            </a: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11%</a:t>
            </a:r>
            <a:endParaRPr lang="en-US" sz="1200" b="0" dirty="0">
              <a:solidFill>
                <a:schemeClr val="tx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It was useful to add the </a:t>
            </a:r>
            <a:r>
              <a:rPr lang="en-US" sz="1200" b="0" dirty="0" err="1">
                <a:solidFill>
                  <a:schemeClr val="tx2">
                    <a:lumMod val="75000"/>
                  </a:schemeClr>
                </a:solidFill>
              </a:rPr>
              <a:t>total_extras</a:t>
            </a:r>
            <a:r>
              <a:rPr lang="en-US" sz="1200" b="0" dirty="0">
                <a:solidFill>
                  <a:schemeClr val="tx2">
                    <a:lumMod val="75000"/>
                  </a:schemeClr>
                </a:solidFill>
              </a:rPr>
              <a:t> variable to the dataset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tx2">
                    <a:lumMod val="75000"/>
                  </a:schemeClr>
                </a:solidFill>
              </a:rPr>
              <a:t>Mobile converts 11% vs 16% on web</a:t>
            </a:r>
            <a:endParaRPr sz="1200" b="0" dirty="0">
              <a:solidFill>
                <a:srgbClr val="1F2A37"/>
              </a:solidFill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C00000"/>
                </a:solidFill>
              </a:rPr>
              <a:t>Recommendations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Shift marketing spend toward high-converting Asian origin markets</a:t>
            </a:r>
            <a:endParaRPr lang="en-US" sz="1200" b="0" dirty="0">
              <a:solidFill>
                <a:schemeClr val="accent2">
                  <a:lumMod val="75000"/>
                </a:schemeClr>
              </a:solidFill>
            </a:endParaRPr>
          </a:p>
          <a:p>
            <a:pPr marL="628650" lvl="1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Further analyze and </a:t>
            </a: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diagnose the AU/NZ funnel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Move</a:t>
            </a: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extra </a:t>
            </a: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baggage, seat</a:t>
            </a: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,</a:t>
            </a: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 and meal options early in the </a:t>
            </a:r>
            <a:r>
              <a:rPr lang="en-US" sz="1200" b="0" dirty="0">
                <a:solidFill>
                  <a:schemeClr val="accent2">
                    <a:lumMod val="75000"/>
                  </a:schemeClr>
                </a:solidFill>
              </a:rPr>
              <a:t>booking </a:t>
            </a: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flow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2">
                    <a:lumMod val="75000"/>
                  </a:schemeClr>
                </a:solidFill>
              </a:rPr>
              <a:t>Improve</a:t>
            </a:r>
            <a:r>
              <a:rPr sz="1200" b="0" dirty="0">
                <a:solidFill>
                  <a:schemeClr val="accent2">
                    <a:lumMod val="75000"/>
                  </a:schemeClr>
                </a:solidFill>
              </a:rPr>
              <a:t> the mobile booking experience.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E422B5-A44C-013E-2944-DB84E7369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302" y="1518581"/>
            <a:ext cx="6607113" cy="4038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194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Leniart</cp:lastModifiedBy>
  <cp:revision>1</cp:revision>
  <dcterms:created xsi:type="dcterms:W3CDTF">2013-01-27T09:14:16Z</dcterms:created>
  <dcterms:modified xsi:type="dcterms:W3CDTF">2026-09-30T15:54:20Z</dcterms:modified>
  <cp:category/>
</cp:coreProperties>
</file>